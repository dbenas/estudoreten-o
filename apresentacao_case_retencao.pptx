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069f438-e2f6-27a7-054b-eaa7b163c961}">
          <p14:sldIdLst>
            <p14:sldId id="256"/>
            <p14:sldId id="257"/>
          </p14:sldIdLst>
        </p14:section>
        <p14:section name="Abordagem" id="{521f2e4f-d182-c402-2708-31183c5fcfec}">
          <p14:sldIdLst>
            <p14:sldId id="258"/>
          </p14:sldIdLst>
        </p14:section>
        <p14:section name="Diagnóstico" id="{5648721a-0866-2642-dd7a-e7a22551c5e6}">
          <p14:sldIdLst>
            <p14:sldId id="259"/>
            <p14:sldId id="260"/>
          </p14:sldIdLst>
        </p14:section>
        <p14:section name="Perfil" id="{87c69568-2c23-0bda-1230-00f58b3fabd8}">
          <p14:sldIdLst>
            <p14:sldId id="261"/>
            <p14:sldId id="262"/>
          </p14:sldIdLst>
        </p14:section>
        <p14:section name="Modelo" id="{ca668df6-8bd0-8b59-a29e-e9b914216258}">
          <p14:sldIdLst>
            <p14:sldId id="263"/>
            <p14:sldId id="264"/>
          </p14:sldIdLst>
        </p14:section>
        <p14:section name="Ações" id="{d1923469-40f0-046a-dff8-53f993115282}">
          <p14:sldIdLst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Receita mensal perdida, % da receita de entrada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Não retidos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0.0%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Não retidos</c:v>
                  </c:pt>
                  <c:pt idx="1">
                    <c:v>Retidos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0.091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Retidos com conta zerada em M30</c:v>
                </c:pt>
              </c:strCache>
            </c:strRef>
          </c:tx>
          <c:spPr>
            <a:solidFill>
              <a:srgbClr val="E34948"/>
            </a:solidFill>
            <a:effectLst/>
          </c:spPr>
          <c:invertIfNegative val="0"/>
          <c:dLbls>
            <c:numFmt formatCode="0.0%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Não retidos</c:v>
                  </c:pt>
                  <c:pt idx="1">
                    <c:v>Retidos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0.059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Cancelamento parcial / suspensão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%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Não retidos</c:v>
                  </c:pt>
                  <c:pt idx="1">
                    <c:v>Retidos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0.041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Troca de produto / desconto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dLbls>
            <c:numFmt formatCode="0.0%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Não retidos</c:v>
                  </c:pt>
                  <c:pt idx="1">
                    <c:v>Retidos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0.038</c:v>
                </c:pt>
              </c:numCache>
            </c:numRef>
          </c:val>
        </c:ser>
        <c:dLbls>
          <c:numFmt formatCode="0.0%;;;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6"/>
        </c:scaling>
        <c:delete val="0"/>
        <c:axPos val="l"/>
        <c:majorGridlines>
          <c:spPr>
            <a:ln w="6350" cap="flat">
              <a:solidFill>
                <a:srgbClr val="E3E6EB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Tipo de desfecho, % dos retidos (44% não alteram nada)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dos retidos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Suspensão temporária</c:v>
                  </c:pt>
                  <c:pt idx="1">
                    <c:v>Desconto sem troca</c:v>
                  </c:pt>
                  <c:pt idx="2">
                    <c:v>Troca sem impacto</c:v>
                  </c:pt>
                  <c:pt idx="3">
                    <c:v>Troca c/ aumento de valor</c:v>
                  </c:pt>
                  <c:pt idx="4">
                    <c:v>Troca + cancelamento</c:v>
                  </c:pt>
                  <c:pt idx="5">
                    <c:v>Reajuste sem troca</c:v>
                  </c:pt>
                  <c:pt idx="6">
                    <c:v>Cancelamento parcial</c:v>
                  </c:pt>
                  <c:pt idx="7">
                    <c:v>Troca c/ redução de valor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0.012</c:v>
                </c:pt>
                <c:pt idx="1">
                  <c:v>0.022</c:v>
                </c:pt>
                <c:pt idx="2">
                  <c:v>0.023</c:v>
                </c:pt>
                <c:pt idx="3">
                  <c:v>0.047</c:v>
                </c:pt>
                <c:pt idx="4">
                  <c:v>0.052</c:v>
                </c:pt>
                <c:pt idx="5">
                  <c:v>0.061</c:v>
                </c:pt>
                <c:pt idx="6">
                  <c:v>0.13</c:v>
                </c:pt>
                <c:pt idx="7">
                  <c:v>0.213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Taxa de troca entre retidos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 de troca</c:v>
                </c:pt>
              </c:strCache>
            </c:strRef>
          </c:tx>
          <c:spPr>
            <a:solidFill>
              <a:srgbClr val="2A78D6"/>
            </a:solidFill>
            <a:ln w="381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-31%</c:v>
                  </c:pt>
                  <c:pt idx="1">
                    <c:v>-17%</c:v>
                  </c:pt>
                  <c:pt idx="2">
                    <c:v>-12%</c:v>
                  </c:pt>
                  <c:pt idx="3">
                    <c:v>-6%</c:v>
                  </c:pt>
                  <c:pt idx="4">
                    <c:v>-3%</c:v>
                  </c:pt>
                  <c:pt idx="5">
                    <c:v>+1%</c:v>
                  </c:pt>
                  <c:pt idx="6">
                    <c:v>+5%</c:v>
                  </c:pt>
                  <c:pt idx="7">
                    <c:v>+10%</c:v>
                  </c:pt>
                  <c:pt idx="8">
                    <c:v>+17%</c:v>
                  </c:pt>
                  <c:pt idx="9">
                    <c:v>+29%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0.213</c:v>
                </c:pt>
                <c:pt idx="1">
                  <c:v>0.284</c:v>
                </c:pt>
                <c:pt idx="2">
                  <c:v>0.315</c:v>
                </c:pt>
                <c:pt idx="3">
                  <c:v>0.36</c:v>
                </c:pt>
                <c:pt idx="4">
                  <c:v>0.373</c:v>
                </c:pt>
                <c:pt idx="5">
                  <c:v>0.387</c:v>
                </c:pt>
                <c:pt idx="6">
                  <c:v>0.399</c:v>
                </c:pt>
                <c:pt idx="7">
                  <c:v>0.411</c:v>
                </c:pt>
                <c:pt idx="8">
                  <c:v>0.406</c:v>
                </c:pt>
                <c:pt idx="9">
                  <c:v>0.395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B7280"/>
                    </a:solidFill>
                    <a:latin typeface="Arial"/>
                  </a:rPr>
                  <a:t>Valor da BL vs. preço típico (decis)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5"/>
          <c:min val="0.15"/>
        </c:scaling>
        <c:delete val="0"/>
        <c:axPos val="l"/>
        <c:majorGridlines>
          <c:spPr>
            <a:ln w="6350" cap="flat">
              <a:solidFill>
                <a:srgbClr val="E3E6EB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Taxa de troca entre retidos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Elegível, sem unificar fatura</c:v>
                  </c:pt>
                  <c:pt idx="1">
                    <c:v>Só TV</c:v>
                  </c:pt>
                  <c:pt idx="2">
                    <c:v>Só BL</c:v>
                  </c:pt>
                  <c:pt idx="3">
                    <c:v>Média dos retidos</c:v>
                  </c:pt>
                  <c:pt idx="4">
                    <c:v>Rede GPON (fibra)</c:v>
                  </c:pt>
                  <c:pt idx="5">
                    <c:v>Fatura unificada</c:v>
                  </c:pt>
                  <c:pt idx="6">
                    <c:v>BL + Móvel</c:v>
                  </c:pt>
                  <c:pt idx="7">
                    <c:v>BL + TV + Móvel</c:v>
                  </c:pt>
                  <c:pt idx="8">
                    <c:v>BL + TV + Fone + Móvel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0.152</c:v>
                </c:pt>
                <c:pt idx="1">
                  <c:v>0.157</c:v>
                </c:pt>
                <c:pt idx="2">
                  <c:v>0.289</c:v>
                </c:pt>
                <c:pt idx="3">
                  <c:v>0.347</c:v>
                </c:pt>
                <c:pt idx="4">
                  <c:v>0.402</c:v>
                </c:pt>
                <c:pt idx="5">
                  <c:v>0.54</c:v>
                </c:pt>
                <c:pt idx="6">
                  <c:v>0.555</c:v>
                </c:pt>
                <c:pt idx="7">
                  <c:v>0.648</c:v>
                </c:pt>
                <c:pt idx="8">
                  <c:v>0.695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Taxa real de troca por decil – teste nov–dez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 real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0.637</c:v>
                </c:pt>
                <c:pt idx="1">
                  <c:v>0.473</c:v>
                </c:pt>
                <c:pt idx="2">
                  <c:v>0.414</c:v>
                </c:pt>
                <c:pt idx="3">
                  <c:v>0.369</c:v>
                </c:pt>
                <c:pt idx="4">
                  <c:v>0.33</c:v>
                </c:pt>
                <c:pt idx="5">
                  <c:v>0.294</c:v>
                </c:pt>
                <c:pt idx="6">
                  <c:v>0.268</c:v>
                </c:pt>
                <c:pt idx="7">
                  <c:v>0.23</c:v>
                </c:pt>
                <c:pt idx="8">
                  <c:v>0.185</c:v>
                </c:pt>
                <c:pt idx="9">
                  <c:v>0.098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B7280"/>
                    </a:solidFill>
                    <a:latin typeface="Arial"/>
                  </a:rPr>
                  <a:t>Decil de escore (1 = maior propensão)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Importância média (|SHAP|) no LightGBM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Importância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Origem (SOLAR/Legado)</c:v>
                  </c:pt>
                  <c:pt idx="1">
                    <c:v>Pacote de TV</c:v>
                  </c:pt>
                  <c:pt idx="2">
                    <c:v>Plano em fibra (PON)</c:v>
                  </c:pt>
                  <c:pt idx="3">
                    <c:v>UF</c:v>
                  </c:pt>
                  <c:pt idx="4">
                    <c:v>Tipo de rede</c:v>
                  </c:pt>
                  <c:pt idx="5">
                    <c:v>Móvel na operadora</c:v>
                  </c:pt>
                  <c:pt idx="6">
                    <c:v>Combo de produtos</c:v>
                  </c:pt>
                  <c:pt idx="7">
                    <c:v>Sobrepreço da BL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0.068</c:v>
                </c:pt>
                <c:pt idx="1">
                  <c:v>0.069</c:v>
                </c:pt>
                <c:pt idx="2">
                  <c:v>0.077</c:v>
                </c:pt>
                <c:pt idx="3">
                  <c:v>0.081</c:v>
                </c:pt>
                <c:pt idx="4">
                  <c:v>0.11</c:v>
                </c:pt>
                <c:pt idx="5">
                  <c:v>0.151</c:v>
                </c:pt>
                <c:pt idx="6">
                  <c:v>0.181</c:v>
                </c:pt>
                <c:pt idx="7">
                  <c:v>0.24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Ganho do SOLAR sobre o Legado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Comparação direta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&quot;+&quot;0.0&quot; p.p.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Taxa de retenção</c:v>
                  </c:pt>
                  <c:pt idx="1">
                    <c:v>Retido com troca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Clientes equivalentes (IPW)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&quot;+&quot;0.0&quot; p.p.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Taxa de retenção</c:v>
                  </c:pt>
                  <c:pt idx="1">
                    <c:v>Retido com troca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8.2</c:v>
                </c:pt>
                <c:pt idx="1">
                  <c:v>4.5</c:v>
                </c:pt>
              </c:numCache>
            </c:numRef>
          </c:val>
        </c:ser>
        <c:dLbls>
          <c:numFmt formatCode="&quot;+&quot;0.0&quot; p.p.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 case pede o perfil dos clientes que, ao pedir cancelamento, são retidos e alteram algum produto. Meu foco foi responder isso olhando sempre duas coisas juntas: a taxa e a receita.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números que resumem o estudo. 84% de retenção; 35% dos retidos movimentam, que é o público do case. O principal fator é o que chamei de sobrepreço: quanto o cliente paga acima do preço típico de um produto equivalente. E a ferramenta SOLAR retém mais quando comparamos clientes parecidos.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etapas. Primeiro validei a base: os flags fecham 100% com os códigos de produto; movimentação é sempre troca, nunca produto novo. Segundo, só variáveis de M0, para evitar vazamento. Terceiro, dois modelos com papéis diferentes, validados no tempo. Quarto, transformar o modelo em perfis acionáveis e testar a ferramenta SOLAR.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Somei a mensalidade de todos os leads na entrada e na saída do funil. Os não retidos levam 9%. Os retidos levam 13%: quase 6% são clientes marcados como retidos que em 30 dias já não pagam nada, 4% são cancelamentos parciais e suspensões, e menos de 4% são trocas e descontos. A troca, que é o foco do case, é a forma mais barata de reter mexendo no portfólio.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Separei o que significa movimentar. A troca com redução de valor é a mais comum. Mas o que chama atenção é a direção: na banda larga só 10% é downgrade; o cliente costuma ir para a mesma velocidade ou maior pagando menos. Na TV, 87% vai para streaming. Ou seja, a retenção usa o catálogo novo, que entrega mais por menos.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foi uma hipótese minha: o cliente que paga mais caro que um produto equivalente no catálogo tem uma oferta melhor disponível. Calculei o sobrepreço comparando o valor da banda larga com a mediana da mesma velocidade na mesma praça. A curva confirma: abaixo do preço típico, 21% trocam; no preço ou acima, cerca de 40%.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Olhando os perfis, a convergência é o maior diferenciador. Quem tem móvel e vários produtos chega a 70% de troca; quem só tem TV, 16%. A fatura unificada separa muito: 54% contra 15%. Também testei uma hipótese que não se confirmou: achei que cliente já em plano de retenção trocaria menos, e não troca.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Validei treinando de junho a outubro e testando em novembro e dezembro, como seria em produção. AUC de 0,69. Mais importante que o AUC é a ordenação: o decil de maior escore troca 64%, quase o dobro da média, e o de menor, 10%. AUC moderado é esperado porque a base não tem a oferta feita nem o motivo do cancelamento.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SHAP mostra quanto cada variável pesa. O sobrepreço é a primeira, seguida de combo e móvel. Um detalhe interessante: com tudo o mais igual, ticket alto reduz a chance – o que puxa a troca não é pagar muito, é pagar caro para aquele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virar ação, treinei uma árvore rasa com variáveis fáceis de explicar e agrupei as folhas em quatro perfis. O convergente que paga o preço de tabela ou mais é o público principal. No outro extremo, o single-play barato quase não troca, porque não existe oferta melhor para 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comparação direta, o SOLAR retém só 2,5 pontos a mais. Mas SOLAR e Legado atendem clientes diferentes. Usando escore de propensão para comparar clientes equivalentes, o ganho sobe para 8,2 pontos. Para o perfil que hoje vai para o Legado, o ganho seria de 5 pontos, com desconto um pouco maior. Por ser observacional, recomendo confirmar com um teste A/B.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recomendações práticas. Usar o sobrepreço como gatilho. Ordenar as ofertas pelo custo, oferecendo upgrade antes de desconto. Medir a retenção pela base de produtos em M30. E expandir o SOLAR para o Legado com teste A/B.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Limitações: não temos a oferta apresentada, o tempo de casa nem o motivo do cancelamento, e o efeito do SOLAR é observacional. Próximos passos: registrar a oferta feita, para evoluir para um modelo de próxima melhor oferta, e acompanhar a retenção em 60 e 90 dias. Agora mostro o dashboard e o simulador.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Case retenção · jun–dez/2025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Retenção com movimentação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Quem aceita trocar de produto para ficar – e quanto isso custa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Case técnico · Cientista de Dados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Em resumo</a:t>
            </a:r>
            <a:endParaRPr lang="en-US" sz="3000" dirty="0"/>
          </a:p>
        </p:txBody>
      </p:sp>
      <p:sp>
        <p:nvSpPr>
          <p:cNvPr id="3" name="Resumo 1"/>
          <p:cNvSpPr/>
          <p:nvPr/>
        </p:nvSpPr>
        <p:spPr>
          <a:xfrm>
            <a:off x="548640" y="155448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esumo 1 número"/>
          <p:cNvSpPr txBox="1"/>
          <p:nvPr/>
        </p:nvSpPr>
        <p:spPr>
          <a:xfrm>
            <a:off x="822960" y="17373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84%</a:t>
            </a:r>
            <a:endParaRPr lang="en-US" sz="4400" dirty="0"/>
          </a:p>
        </p:txBody>
      </p:sp>
      <p:sp>
        <p:nvSpPr>
          <p:cNvPr id="5" name="Resumo 1 rótulo"/>
          <p:cNvSpPr txBox="1"/>
          <p:nvPr/>
        </p:nvSpPr>
        <p:spPr>
          <a:xfrm>
            <a:off x="822960" y="257860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dos leads finalizados são retidos</a:t>
            </a:r>
            <a:endParaRPr lang="en-US" sz="1400" dirty="0"/>
          </a:p>
        </p:txBody>
      </p:sp>
      <p:sp>
        <p:nvSpPr>
          <p:cNvPr id="6" name="Resumo 2"/>
          <p:cNvSpPr/>
          <p:nvPr/>
        </p:nvSpPr>
        <p:spPr>
          <a:xfrm>
            <a:off x="3364992" y="155448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Resumo 2 número"/>
          <p:cNvSpPr txBox="1"/>
          <p:nvPr/>
        </p:nvSpPr>
        <p:spPr>
          <a:xfrm>
            <a:off x="3639312" y="17373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35%</a:t>
            </a:r>
            <a:endParaRPr lang="en-US" sz="4400" dirty="0"/>
          </a:p>
        </p:txBody>
      </p:sp>
      <p:sp>
        <p:nvSpPr>
          <p:cNvPr id="8" name="Resumo 2 rótulo"/>
          <p:cNvSpPr txBox="1"/>
          <p:nvPr/>
        </p:nvSpPr>
        <p:spPr>
          <a:xfrm>
            <a:off x="3639312" y="257860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dos retidos trocam algum produto</a:t>
            </a:r>
            <a:endParaRPr lang="en-US" sz="1400" dirty="0"/>
          </a:p>
        </p:txBody>
      </p:sp>
      <p:sp>
        <p:nvSpPr>
          <p:cNvPr id="9" name="Resumo 3"/>
          <p:cNvSpPr/>
          <p:nvPr/>
        </p:nvSpPr>
        <p:spPr>
          <a:xfrm>
            <a:off x="6181344" y="155448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Resumo 3 número"/>
          <p:cNvSpPr txBox="1"/>
          <p:nvPr/>
        </p:nvSpPr>
        <p:spPr>
          <a:xfrm>
            <a:off x="6455664" y="17373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2x</a:t>
            </a:r>
            <a:endParaRPr lang="en-US" sz="4400" dirty="0"/>
          </a:p>
        </p:txBody>
      </p:sp>
      <p:sp>
        <p:nvSpPr>
          <p:cNvPr id="11" name="Resumo 3 rótulo"/>
          <p:cNvSpPr txBox="1"/>
          <p:nvPr/>
        </p:nvSpPr>
        <p:spPr>
          <a:xfrm>
            <a:off x="6455664" y="257860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taxa de troca de quem paga acima do preço típico (40% x 21%)</a:t>
            </a:r>
            <a:endParaRPr lang="en-US" sz="1400" dirty="0"/>
          </a:p>
        </p:txBody>
      </p:sp>
      <p:sp>
        <p:nvSpPr>
          <p:cNvPr id="12" name="Resumo 4"/>
          <p:cNvSpPr/>
          <p:nvPr/>
        </p:nvSpPr>
        <p:spPr>
          <a:xfrm>
            <a:off x="8997696" y="155448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Resumo 4 número"/>
          <p:cNvSpPr txBox="1"/>
          <p:nvPr/>
        </p:nvSpPr>
        <p:spPr>
          <a:xfrm>
            <a:off x="9272016" y="17373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+8,2 p.p.</a:t>
            </a:r>
            <a:endParaRPr lang="en-US" sz="4400" dirty="0"/>
          </a:p>
        </p:txBody>
      </p:sp>
      <p:sp>
        <p:nvSpPr>
          <p:cNvPr id="14" name="Resumo 4 rótulo"/>
          <p:cNvSpPr txBox="1"/>
          <p:nvPr/>
        </p:nvSpPr>
        <p:spPr>
          <a:xfrm>
            <a:off x="9272016" y="257860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retenção do SOLAR sobre o Legado, em clientes equivalentes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49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Perfil do retido que troca: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paga acima do preço típico do catálogo, é convergente (móvel na operadora, mais produtos, fatura unificada) e está em fibra.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72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Na prática, a troca é uma migração para o catálogo atual: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mais velocidade ou TV streaming, pagando menos.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Como conduzi a análise</a:t>
            </a:r>
            <a:endParaRPr lang="en-US" sz="3000" dirty="0"/>
          </a:p>
        </p:txBody>
      </p:sp>
      <p:sp>
        <p:nvSpPr>
          <p:cNvPr id="3" name="Passo 1 círculo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Passo 1 número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Passo 1 título"/>
          <p:cNvSpPr txBox="1"/>
          <p:nvPr/>
        </p:nvSpPr>
        <p:spPr>
          <a:xfrm>
            <a:off x="54864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Qualidade da base</a:t>
            </a:r>
            <a:endParaRPr lang="en-US" sz="2000" dirty="0"/>
          </a:p>
        </p:txBody>
      </p:sp>
      <p:sp>
        <p:nvSpPr>
          <p:cNvPr id="6" name="Passo 1 texto"/>
          <p:cNvSpPr txBox="1"/>
          <p:nvPr/>
        </p:nvSpPr>
        <p:spPr>
          <a:xfrm>
            <a:off x="548640" y="306324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Conferi o que cada flag significa contra os códigos de produto em M0 e M30</a:t>
            </a:r>
            <a:endParaRPr lang="en-US" sz="1500" dirty="0"/>
          </a:p>
        </p:txBody>
      </p:sp>
      <p:sp>
        <p:nvSpPr>
          <p:cNvPr id="7" name="Passo 2 círculo"/>
          <p:cNvSpPr/>
          <p:nvPr/>
        </p:nvSpPr>
        <p:spPr>
          <a:xfrm>
            <a:off x="3364992" y="16002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Passo 2 número"/>
          <p:cNvSpPr txBox="1"/>
          <p:nvPr/>
        </p:nvSpPr>
        <p:spPr>
          <a:xfrm>
            <a:off x="3364992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Passo 2 título"/>
          <p:cNvSpPr txBox="1"/>
          <p:nvPr/>
        </p:nvSpPr>
        <p:spPr>
          <a:xfrm>
            <a:off x="3364992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Variáveis de M0</a:t>
            </a:r>
            <a:endParaRPr lang="en-US" sz="2000" dirty="0"/>
          </a:p>
        </p:txBody>
      </p:sp>
      <p:sp>
        <p:nvSpPr>
          <p:cNvPr id="10" name="Passo 2 texto"/>
          <p:cNvSpPr txBox="1"/>
          <p:nvPr/>
        </p:nvSpPr>
        <p:spPr>
          <a:xfrm>
            <a:off x="3364992" y="306324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Só o que se sabe na entrada do funil. Criei o sobrepreço a partir de uma hipótese de negócio</a:t>
            </a:r>
            <a:endParaRPr lang="en-US" sz="1500" dirty="0"/>
          </a:p>
        </p:txBody>
      </p:sp>
      <p:sp>
        <p:nvSpPr>
          <p:cNvPr id="11" name="Passo 3 círculo"/>
          <p:cNvSpPr/>
          <p:nvPr/>
        </p:nvSpPr>
        <p:spPr>
          <a:xfrm>
            <a:off x="6181344" y="16002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Passo 3 número"/>
          <p:cNvSpPr txBox="1"/>
          <p:nvPr/>
        </p:nvSpPr>
        <p:spPr>
          <a:xfrm>
            <a:off x="6181344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Passo 3 título"/>
          <p:cNvSpPr txBox="1"/>
          <p:nvPr/>
        </p:nvSpPr>
        <p:spPr>
          <a:xfrm>
            <a:off x="6181344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Modelos</a:t>
            </a:r>
            <a:endParaRPr lang="en-US" sz="2000" dirty="0"/>
          </a:p>
        </p:txBody>
      </p:sp>
      <p:sp>
        <p:nvSpPr>
          <p:cNvPr id="14" name="Passo 3 texto"/>
          <p:cNvSpPr txBox="1"/>
          <p:nvPr/>
        </p:nvSpPr>
        <p:spPr>
          <a:xfrm>
            <a:off x="6181344" y="306324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Logística para explicar, LightGBM + SHAP para prever. Treino jun–out, teste nov–dez</a:t>
            </a:r>
            <a:endParaRPr lang="en-US" sz="1500" dirty="0"/>
          </a:p>
        </p:txBody>
      </p:sp>
      <p:sp>
        <p:nvSpPr>
          <p:cNvPr id="15" name="Passo 4 círculo"/>
          <p:cNvSpPr/>
          <p:nvPr/>
        </p:nvSpPr>
        <p:spPr>
          <a:xfrm>
            <a:off x="8997696" y="16002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Passo 4 número"/>
          <p:cNvSpPr txBox="1"/>
          <p:nvPr/>
        </p:nvSpPr>
        <p:spPr>
          <a:xfrm>
            <a:off x="8997696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7" name="Passo 4 título"/>
          <p:cNvSpPr txBox="1"/>
          <p:nvPr/>
        </p:nvSpPr>
        <p:spPr>
          <a:xfrm>
            <a:off x="8997696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Perfis e ações</a:t>
            </a:r>
            <a:endParaRPr lang="en-US" sz="2000" dirty="0"/>
          </a:p>
        </p:txBody>
      </p:sp>
      <p:sp>
        <p:nvSpPr>
          <p:cNvPr id="18" name="Passo 4 texto"/>
          <p:cNvSpPr txBox="1"/>
          <p:nvPr/>
        </p:nvSpPr>
        <p:spPr>
          <a:xfrm>
            <a:off x="8997696" y="306324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Árvore rasa para virar regras de negócio; SOLAR x Legado com escore de propensão</a:t>
            </a:r>
            <a:endParaRPr lang="en-US" sz="1500" dirty="0"/>
          </a:p>
        </p:txBody>
      </p:sp>
      <p:sp>
        <p:nvSpPr>
          <p:cNvPr id="19" name="Decisão-chave"/>
          <p:cNvSpPr/>
          <p:nvPr/>
        </p:nvSpPr>
        <p:spPr>
          <a:xfrm>
            <a:off x="548640" y="4846320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0749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Decisão-chave: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nada de M30 entra no modelo – é o resultado da oferta. Usar seria vazamento: o modelo acertaria olhando a resposta.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Os retidos levam mais receita do que os não retidos</a:t>
            </a:r>
            <a:endParaRPr lang="en-US" sz="3000" dirty="0"/>
          </a:p>
        </p:txBody>
      </p:sp>
      <p:graphicFrame>
        <p:nvGraphicFramePr>
          <p:cNvPr id="3" name="Gráfico ponte de receita" descr=""/>
          <p:cNvGraphicFramePr/>
          <p:nvPr/>
        </p:nvGraphicFramePr>
        <p:xfrm>
          <a:off x="548640" y="137160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Destaque receita"/>
          <p:cNvSpPr/>
          <p:nvPr/>
        </p:nvSpPr>
        <p:spPr>
          <a:xfrm>
            <a:off x="7772400" y="1463040"/>
            <a:ext cx="38404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estaque receita número"/>
          <p:cNvSpPr txBox="1"/>
          <p:nvPr/>
        </p:nvSpPr>
        <p:spPr>
          <a:xfrm>
            <a:off x="8046720" y="16459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6"/>
                </a:solidFill>
              </a:rPr>
              <a:t>13% x 9%</a:t>
            </a:r>
            <a:endParaRPr lang="en-US" sz="4400" dirty="0"/>
          </a:p>
        </p:txBody>
      </p:sp>
      <p:sp>
        <p:nvSpPr>
          <p:cNvPr id="6" name="Destaque receita rótulo"/>
          <p:cNvSpPr txBox="1"/>
          <p:nvPr/>
        </p:nvSpPr>
        <p:spPr>
          <a:xfrm>
            <a:off x="8046720" y="248716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 receita que entra no funil é perdida pelos retidos x não retidos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352044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8% dos clientes "retidos" zeram a conta em 30 dias.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Reter não é sinônimo de preservar receita: o indicador de retenção deveria ser medido na base de produtos em M30.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Movimentar é migrar para o catálogo atual</a:t>
            </a:r>
            <a:endParaRPr lang="en-US" sz="3000" dirty="0"/>
          </a:p>
        </p:txBody>
      </p:sp>
      <p:graphicFrame>
        <p:nvGraphicFramePr>
          <p:cNvPr id="3" name="Gráfico tipos de desfecho" descr=""/>
          <p:cNvGraphicFramePr/>
          <p:nvPr/>
        </p:nvGraphicFramePr>
        <p:xfrm>
          <a:off x="548640" y="137160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Destaque BL"/>
          <p:cNvSpPr/>
          <p:nvPr/>
        </p:nvSpPr>
        <p:spPr>
          <a:xfrm>
            <a:off x="7589520" y="1463040"/>
            <a:ext cx="40233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estaque BL número"/>
          <p:cNvSpPr txBox="1"/>
          <p:nvPr/>
        </p:nvSpPr>
        <p:spPr>
          <a:xfrm>
            <a:off x="7863840" y="16459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10%</a:t>
            </a:r>
            <a:endParaRPr lang="en-US" sz="4400" dirty="0"/>
          </a:p>
        </p:txBody>
      </p:sp>
      <p:sp>
        <p:nvSpPr>
          <p:cNvPr id="6" name="Destaque BL rótulo"/>
          <p:cNvSpPr txBox="1"/>
          <p:nvPr/>
        </p:nvSpPr>
        <p:spPr>
          <a:xfrm>
            <a:off x="7863840" y="248716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das trocas de banda larga são downgrade de velocidade; 41% sobem e a conta ainda cai</a:t>
            </a:r>
            <a:endParaRPr lang="en-US" sz="1400" dirty="0"/>
          </a:p>
        </p:txBody>
      </p:sp>
      <p:sp>
        <p:nvSpPr>
          <p:cNvPr id="7" name="Destaque TV"/>
          <p:cNvSpPr/>
          <p:nvPr/>
        </p:nvSpPr>
        <p:spPr>
          <a:xfrm>
            <a:off x="7589520" y="3429000"/>
            <a:ext cx="40233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Destaque TV número"/>
          <p:cNvSpPr txBox="1"/>
          <p:nvPr/>
        </p:nvSpPr>
        <p:spPr>
          <a:xfrm>
            <a:off x="7863840" y="3611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87%</a:t>
            </a:r>
            <a:endParaRPr lang="en-US" sz="4400" dirty="0"/>
          </a:p>
        </p:txBody>
      </p:sp>
      <p:sp>
        <p:nvSpPr>
          <p:cNvPr id="9" name="Destaque TV rótulo"/>
          <p:cNvSpPr txBox="1"/>
          <p:nvPr/>
        </p:nvSpPr>
        <p:spPr>
          <a:xfrm>
            <a:off x="7863840" y="445312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das trocas de TV vão para streaming / CTV+, em geral pacote Top, R$ 31 mais barato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53949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5% dos retidos saem pagando mais: retenção também pode ser venda.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Quem paga acima do preço típico aceita mais a troca</a:t>
            </a:r>
            <a:endParaRPr lang="en-US" sz="3000" dirty="0"/>
          </a:p>
        </p:txBody>
      </p:sp>
      <p:graphicFrame>
        <p:nvGraphicFramePr>
          <p:cNvPr id="3" name="Gráfico sobrepreço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Definição sobrepreço"/>
          <p:cNvSpPr/>
          <p:nvPr/>
        </p:nvSpPr>
        <p:spPr>
          <a:xfrm>
            <a:off x="7955280" y="1463040"/>
            <a:ext cx="36576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0" y="16916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Sobrepreço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valor da BL ÷ mediana da mesma velocidade na mesma praça − 1 (na TV: mesmo nível de pacote)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41148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Variável mais importante do modelo.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Quem já paga pouco não tem oferta melhor; quem paga caro tem. Bom gatilho de oferta no atendimento.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Cliente convergente é o mais propenso a trocar</a:t>
            </a:r>
            <a:endParaRPr lang="en-US" sz="3000" dirty="0"/>
          </a:p>
        </p:txBody>
      </p:sp>
      <p:graphicFrame>
        <p:nvGraphicFramePr>
          <p:cNvPr id="3" name="Gráfico perfis univariados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955280" y="1554480"/>
            <a:ext cx="3657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Móvel na operadora e mais produtos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dão mais "peças" para negociar.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Fatura unificada x não unificada: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54% x 15% – o maior contraste da base.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Fibra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tem mais opções de velocidade para oferecer.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Hipótese descartada: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estar em plano de retenção não reduz a troca.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 modelo ordena bem quem vai trocar</a:t>
            </a:r>
            <a:endParaRPr lang="en-US" sz="3000" dirty="0"/>
          </a:p>
        </p:txBody>
      </p:sp>
      <p:graphicFrame>
        <p:nvGraphicFramePr>
          <p:cNvPr id="3" name="Gráfico decis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AUC"/>
          <p:cNvSpPr/>
          <p:nvPr/>
        </p:nvSpPr>
        <p:spPr>
          <a:xfrm>
            <a:off x="7955280" y="1463040"/>
            <a:ext cx="17830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UC número"/>
          <p:cNvSpPr txBox="1"/>
          <p:nvPr/>
        </p:nvSpPr>
        <p:spPr>
          <a:xfrm>
            <a:off x="8229600" y="16459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0,69</a:t>
            </a:r>
            <a:endParaRPr lang="en-US" sz="4400" dirty="0"/>
          </a:p>
        </p:txBody>
      </p:sp>
      <p:sp>
        <p:nvSpPr>
          <p:cNvPr id="6" name="AUC rótulo"/>
          <p:cNvSpPr txBox="1"/>
          <p:nvPr/>
        </p:nvSpPr>
        <p:spPr>
          <a:xfrm>
            <a:off x="8229600" y="248716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AUC no teste</a:t>
            </a:r>
            <a:endParaRPr lang="en-US" sz="1400" dirty="0"/>
          </a:p>
        </p:txBody>
      </p:sp>
      <p:sp>
        <p:nvSpPr>
          <p:cNvPr id="7" name="Lift"/>
          <p:cNvSpPr/>
          <p:nvPr/>
        </p:nvSpPr>
        <p:spPr>
          <a:xfrm>
            <a:off x="9829800" y="1463040"/>
            <a:ext cx="17830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ift número"/>
          <p:cNvSpPr txBox="1"/>
          <p:nvPr/>
        </p:nvSpPr>
        <p:spPr>
          <a:xfrm>
            <a:off x="10104120" y="16459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1,9x</a:t>
            </a:r>
            <a:endParaRPr lang="en-US" sz="4400" dirty="0"/>
          </a:p>
        </p:txBody>
      </p:sp>
      <p:sp>
        <p:nvSpPr>
          <p:cNvPr id="9" name="Lift rótulo"/>
          <p:cNvSpPr txBox="1"/>
          <p:nvPr/>
        </p:nvSpPr>
        <p:spPr>
          <a:xfrm>
            <a:off x="10104120" y="248716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taxa do decil 1 vs. média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34747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LightGBM 0,69 x logística 0,65.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Os 30% de maior escore concentram 46% de quem troca.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AUC perto de 0,7 é esperado: a decisão depende da conversa e da oferta, que não estão na base.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 que mais pesa na decisão de trocar</a:t>
            </a:r>
            <a:endParaRPr lang="en-US" sz="3000" dirty="0"/>
          </a:p>
        </p:txBody>
      </p:sp>
      <p:graphicFrame>
        <p:nvGraphicFramePr>
          <p:cNvPr id="3" name="Gráfico SHAP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955280" y="1554480"/>
            <a:ext cx="3657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Sobrepreço lidera: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uma variável criada a partir de hipótese de negócio superou as originais.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Velocidade 750M+: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quase não troca – já está no topo do catálogo.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Ticket alto, com o resto fixo, reduz: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o que pesa é pagar caro para aquele produto.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Quatro perfis, quatro abordagens</a:t>
            </a:r>
            <a:endParaRPr lang="en-US" sz="3000" dirty="0"/>
          </a:p>
        </p:txBody>
      </p:sp>
      <p:graphicFrame>
        <p:nvGraphicFramePr>
          <p:cNvPr id="11" name="Tabela perfi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371600"/>
                <a:gridCol w="1645920"/>
                <a:gridCol w="49377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retidos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troca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Abordagem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3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Convergente no preço ou acima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33–53%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 principal da troca. Ofertar upgrade antes de desconto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móvel, BL cara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29–48%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Migração de catálogo + oferta de móvel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Portfólio grande, preço já bom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28–37%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Trocar TV linear por streaming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Single-play barato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13–24%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Reter sem mexer no plano, sem desconto extra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7280"/>
                </a:solidFill>
              </a:rPr>
              <a:t>Perfis gerados por uma árvore de decisão rasa (treino jun–out); as taxas se mantêm no teste nov–dez. No dashboard, cada perfil tem a regra completa.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SOLAR retém mais do que a comparação direta mostra</a:t>
            </a:r>
            <a:endParaRPr lang="en-US" sz="3000" dirty="0"/>
          </a:p>
        </p:txBody>
      </p:sp>
      <p:graphicFrame>
        <p:nvGraphicFramePr>
          <p:cNvPr id="3" name="Gráfico SOLAR" descr=""/>
          <p:cNvGraphicFramePr/>
          <p:nvPr/>
        </p:nvGraphicFramePr>
        <p:xfrm>
          <a:off x="548640" y="137160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589520" y="1554480"/>
            <a:ext cx="4023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Os dois canais atendem perfis diferentes.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Reponderei por escore de propensão para comparar clientes parecidos.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Se o Legado usasse SOLAR: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+5,2 p.p. (~430 clientes/mês na amostra), mas com receita por lead levemente menor.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Recomendação: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expandir via teste A/B, com piso de preço.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Recomendações</a:t>
            </a:r>
            <a:endParaRPr lang="en-US" sz="3000" dirty="0"/>
          </a:p>
        </p:txBody>
      </p:sp>
      <p:sp>
        <p:nvSpPr>
          <p:cNvPr id="3" name="Recomendação 1"/>
          <p:cNvSpPr/>
          <p:nvPr/>
        </p:nvSpPr>
        <p:spPr>
          <a:xfrm>
            <a:off x="548640" y="14630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ecomendação 1 círculo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Recomendação 1 número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Recomendação 1 título"/>
          <p:cNvSpPr txBox="1"/>
          <p:nvPr/>
        </p:nvSpPr>
        <p:spPr>
          <a:xfrm>
            <a:off x="1691640" y="17373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Sobrepreço como gatilho</a:t>
            </a:r>
            <a:endParaRPr lang="en-US" sz="2000" dirty="0"/>
          </a:p>
        </p:txBody>
      </p:sp>
      <p:sp>
        <p:nvSpPr>
          <p:cNvPr id="7" name="Recomendação 1 texto"/>
          <p:cNvSpPr txBox="1"/>
          <p:nvPr/>
        </p:nvSpPr>
        <p:spPr>
          <a:xfrm>
            <a:off x="1691640" y="24231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Calcular no atendimento e usar o preço de referência como âncora da oferta de troca</a:t>
            </a:r>
            <a:endParaRPr lang="en-US" sz="1500" dirty="0"/>
          </a:p>
        </p:txBody>
      </p:sp>
      <p:sp>
        <p:nvSpPr>
          <p:cNvPr id="8" name="Recomendação 2"/>
          <p:cNvSpPr/>
          <p:nvPr/>
        </p:nvSpPr>
        <p:spPr>
          <a:xfrm>
            <a:off x="6172200" y="14630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ecomendação 2 círculo"/>
          <p:cNvSpPr/>
          <p:nvPr/>
        </p:nvSpPr>
        <p:spPr>
          <a:xfrm>
            <a:off x="6446520" y="17373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Recomendação 2 número"/>
          <p:cNvSpPr txBox="1"/>
          <p:nvPr/>
        </p:nvSpPr>
        <p:spPr>
          <a:xfrm>
            <a:off x="64465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Recomendação 2 título"/>
          <p:cNvSpPr txBox="1"/>
          <p:nvPr/>
        </p:nvSpPr>
        <p:spPr>
          <a:xfrm>
            <a:off x="7315200" y="17373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Upgrade antes de desconto</a:t>
            </a:r>
            <a:endParaRPr lang="en-US" sz="2000" dirty="0"/>
          </a:p>
        </p:txBody>
      </p:sp>
      <p:sp>
        <p:nvSpPr>
          <p:cNvPr id="12" name="Recomendação 2 texto"/>
          <p:cNvSpPr txBox="1"/>
          <p:nvPr/>
        </p:nvSpPr>
        <p:spPr>
          <a:xfrm>
            <a:off x="7315200" y="24231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Ordem de ofertas por custo: troca com upgrade → troca neutra → desconto → cancelamento parcial</a:t>
            </a:r>
            <a:endParaRPr lang="en-US" sz="1500" dirty="0"/>
          </a:p>
        </p:txBody>
      </p:sp>
      <p:sp>
        <p:nvSpPr>
          <p:cNvPr id="13" name="Recomendação 3"/>
          <p:cNvSpPr/>
          <p:nvPr/>
        </p:nvSpPr>
        <p:spPr>
          <a:xfrm>
            <a:off x="548640" y="370332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ecomendação 3 círculo"/>
          <p:cNvSpPr/>
          <p:nvPr/>
        </p:nvSpPr>
        <p:spPr>
          <a:xfrm>
            <a:off x="822960" y="39776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Recomendação 3 número"/>
          <p:cNvSpPr txBox="1"/>
          <p:nvPr/>
        </p:nvSpPr>
        <p:spPr>
          <a:xfrm>
            <a:off x="82296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Recomendação 3 título"/>
          <p:cNvSpPr txBox="1"/>
          <p:nvPr/>
        </p:nvSpPr>
        <p:spPr>
          <a:xfrm>
            <a:off x="1691640" y="3977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Medir retenção em M30</a:t>
            </a:r>
            <a:endParaRPr lang="en-US" sz="2000" dirty="0"/>
          </a:p>
        </p:txBody>
      </p:sp>
      <p:sp>
        <p:nvSpPr>
          <p:cNvPr id="17" name="Recomendação 3 texto"/>
          <p:cNvSpPr txBox="1"/>
          <p:nvPr/>
        </p:nvSpPr>
        <p:spPr>
          <a:xfrm>
            <a:off x="1691640" y="46634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Pela base de produtos, não só pelo status do lead: 8% dos retidos zeram a conta</a:t>
            </a:r>
            <a:endParaRPr lang="en-US" sz="1500" dirty="0"/>
          </a:p>
        </p:txBody>
      </p:sp>
      <p:sp>
        <p:nvSpPr>
          <p:cNvPr id="18" name="Recomendação 4"/>
          <p:cNvSpPr/>
          <p:nvPr/>
        </p:nvSpPr>
        <p:spPr>
          <a:xfrm>
            <a:off x="6172200" y="370332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Recomendação 4 círculo"/>
          <p:cNvSpPr/>
          <p:nvPr/>
        </p:nvSpPr>
        <p:spPr>
          <a:xfrm>
            <a:off x="6446520" y="39776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Recomendação 4 número"/>
          <p:cNvSpPr txBox="1"/>
          <p:nvPr/>
        </p:nvSpPr>
        <p:spPr>
          <a:xfrm>
            <a:off x="644652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Recomendação 4 título"/>
          <p:cNvSpPr txBox="1"/>
          <p:nvPr/>
        </p:nvSpPr>
        <p:spPr>
          <a:xfrm>
            <a:off x="7315200" y="3977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SOLAR no Legado via A/B</a:t>
            </a:r>
            <a:endParaRPr lang="en-US" sz="2000" dirty="0"/>
          </a:p>
        </p:txBody>
      </p:sp>
      <p:sp>
        <p:nvSpPr>
          <p:cNvPr id="22" name="Recomendação 4 texto"/>
          <p:cNvSpPr txBox="1"/>
          <p:nvPr/>
        </p:nvSpPr>
        <p:spPr>
          <a:xfrm>
            <a:off x="7315200" y="46634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 piso de preço para o perfil Legado, capturando +5 p.p. de retenção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Próximos passos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Registrar a oferta apresentada em cada atendimento → modelo de próxima melhor oferta</a:t>
            </a:r>
            <a:endParaRPr lang="en-US" sz="2000" dirty="0"/>
          </a:p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Acompanhar a retenção em M60/M90</a:t>
            </a:r>
            <a:endParaRPr lang="en-US" sz="2000" dirty="0"/>
          </a:p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Demonstração: dashboard com simulador de atendimento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encao">
  <a:themeElements>
    <a:clrScheme name="Retencao">
      <a:dk1>
        <a:srgbClr val="1B2430"/>
      </a:dk1>
      <a:lt1>
        <a:srgbClr val="FFFFFF"/>
      </a:lt1>
      <a:dk2>
        <a:srgbClr val="22303F"/>
      </a:dk2>
      <a:lt2>
        <a:srgbClr val="F2F4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Retenca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Retenção com movimentação</dc:title>
  <dc:subject>PptxGenJS Presentation</dc:subject>
  <dc:creator>PptxGenJS</dc:creator>
  <cp:lastModifiedBy>PptxGenJS</cp:lastModifiedBy>
  <cp:revision>1</cp:revision>
  <dcterms:created xsi:type="dcterms:W3CDTF">2026-10-16T14:11:42Z</dcterms:created>
  <dcterms:modified xsi:type="dcterms:W3CDTF">2026-10-16T14:11:42Z</dcterms:modified>
</cp:coreProperties>
</file>